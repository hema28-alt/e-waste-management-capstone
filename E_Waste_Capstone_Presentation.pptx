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41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457200"/>
            <a:ext cx="1828800" cy="1828800"/>
          </a:xfrm>
          <a:prstGeom prst="ellipse">
            <a:avLst/>
          </a:prstGeom>
          <a:solidFill>
            <a:srgbClr val="49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4297680"/>
            <a:ext cx="1280160" cy="1280160"/>
          </a:xfrm>
          <a:prstGeom prst="ellipse">
            <a:avLst/>
          </a:prstGeom>
          <a:solidFill>
            <a:srgbClr val="548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5120640"/>
            <a:ext cx="731520" cy="731520"/>
          </a:xfrm>
          <a:prstGeom prst="ellipse">
            <a:avLst/>
          </a:prstGeom>
          <a:solidFill>
            <a:srgbClr val="DDA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E2F0E2"/>
                </a:solidFill>
                <a:latin typeface="Aptos"/>
              </a:defRPr>
            </a:pPr>
            <a:r>
              <a:t>CAPSTONE PROJECT • NO. 23 • ECE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7955279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AI Responsible Electronics:</a:t>
            </a:r>
            <a:br/>
            <a:r>
              <a:t>Standards, Safety &amp; E-Waste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840480"/>
            <a:ext cx="7132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0">
                <a:solidFill>
                  <a:srgbClr val="E2F0E2"/>
                </a:solidFill>
                <a:latin typeface="Aptos"/>
              </a:defRPr>
            </a:pPr>
            <a:r>
              <a:t>Using AI to research e-waste responsibly—and verify what it tells 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806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Prepared for academic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377440"/>
            <a:ext cx="2103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♻</a:t>
            </a:r>
            <a:br/>
            <a:r>
              <a:t>E-WASTE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800" b="1">
                <a:solidFill>
                  <a:srgbClr val="1C413A"/>
                </a:solidFill>
                <a:latin typeface="Aptos"/>
              </a:defRPr>
            </a:pPr>
            <a:r>
              <a:t>1. The Problem &amp; Research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64008"/>
          </a:xfrm>
          <a:prstGeom prst="rect">
            <a:avLst/>
          </a:prstGeom>
          <a:solidFill>
            <a:srgbClr val="DDA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5A6760"/>
                </a:solidFill>
                <a:latin typeface="Apto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497D5B"/>
                </a:solidFill>
                <a:latin typeface="Aptos"/>
              </a:defRPr>
            </a:pPr>
            <a:r>
              <a:t>What counts as e-waste?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322F"/>
                </a:solidFill>
                <a:latin typeface="Aptos"/>
              </a:defRPr>
            </a:pPr>
            <a:r>
              <a:t>Discarded phones, computers, chargers and other electronic equipment</a:t>
            </a:r>
          </a:p>
          <a:p>
            <a:pPr>
              <a:spcAft>
                <a:spcPts val="1000"/>
              </a:spcAft>
              <a:defRPr sz="1800">
                <a:solidFill>
                  <a:srgbClr val="28322F"/>
                </a:solidFill>
                <a:latin typeface="Aptos"/>
              </a:defRPr>
            </a:pPr>
            <a:r>
              <a:t>Improper handling can create risks for people and the environment</a:t>
            </a:r>
          </a:p>
          <a:p>
            <a:pPr>
              <a:spcAft>
                <a:spcPts val="1000"/>
              </a:spcAft>
              <a:defRPr sz="1800">
                <a:solidFill>
                  <a:srgbClr val="28322F"/>
                </a:solidFill>
                <a:latin typeface="Aptos"/>
              </a:defRPr>
            </a:pPr>
            <a:r>
              <a:t>Students need accessible, trustworthy guidance on safe collection and recycling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120640" cy="4297680"/>
          </a:xfrm>
          <a:prstGeom prst="roundRect">
            <a:avLst/>
          </a:prstGeom>
          <a:solidFill>
            <a:srgbClr val="E2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497D5B"/>
                </a:solidFill>
                <a:latin typeface="Aptos"/>
              </a:defRPr>
            </a:pPr>
            <a:r>
              <a:t>MAIN RESEARCH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31720"/>
            <a:ext cx="42976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1C413A"/>
                </a:solidFill>
                <a:latin typeface="Aptos"/>
              </a:defRPr>
            </a:pPr>
            <a:r>
              <a:t>How can AI help students research electronics safety standards and e-waste rules, and how reliable is its legal and technical information?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89204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5A6760"/>
                </a:solidFill>
                <a:latin typeface="Aptos"/>
              </a:defRPr>
            </a:pPr>
            <a:r>
              <a:t>Focus: usefulness + reliability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800" b="1">
                <a:solidFill>
                  <a:srgbClr val="1C413A"/>
                </a:solidFill>
                <a:latin typeface="Aptos"/>
              </a:defRPr>
            </a:pPr>
            <a:r>
              <a:t>2. AI Tools &amp; Research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64008"/>
          </a:xfrm>
          <a:prstGeom prst="rect">
            <a:avLst/>
          </a:prstGeom>
          <a:solidFill>
            <a:srgbClr val="DDA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5A6760"/>
                </a:solidFill>
                <a:latin typeface="Aptos"/>
              </a:defRPr>
            </a:pPr>
            <a:r>
              <a:t>3/6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2514600" cy="3246120"/>
          </a:xfrm>
          <a:prstGeom prst="roundRect">
            <a:avLst/>
          </a:prstGeom>
          <a:solidFill>
            <a:srgbClr val="E2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01952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DDAA5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95728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100" b="1">
                <a:solidFill>
                  <a:srgbClr val="1C413A"/>
                </a:solidFill>
                <a:latin typeface="Aptos"/>
              </a:defRPr>
            </a:pPr>
            <a:r>
              <a:t>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017520"/>
            <a:ext cx="21488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28322F"/>
                </a:solidFill>
                <a:latin typeface="Aptos"/>
              </a:defRPr>
            </a:pPr>
            <a:r>
              <a:t>Use the same clear research prompt in ChatGPT and Gemini.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691640"/>
            <a:ext cx="2514600" cy="3246120"/>
          </a:xfrm>
          <a:prstGeom prst="roundRect">
            <a:avLst/>
          </a:prstGeom>
          <a:solidFill>
            <a:srgbClr val="EE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1901952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DDAA5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2395728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100" b="1">
                <a:solidFill>
                  <a:srgbClr val="1C413A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3017520"/>
            <a:ext cx="21488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28322F"/>
                </a:solidFill>
                <a:latin typeface="Aptos"/>
              </a:defRPr>
            </a:pPr>
            <a:r>
              <a:t>Review explanations and identify factual claims that need checking.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691640"/>
            <a:ext cx="2514600" cy="3246120"/>
          </a:xfrm>
          <a:prstGeom prst="roundRect">
            <a:avLst/>
          </a:prstGeom>
          <a:solidFill>
            <a:srgbClr val="E2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901952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DDAA5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395728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100" b="1">
                <a:solidFill>
                  <a:srgbClr val="1C413A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3017520"/>
            <a:ext cx="21488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28322F"/>
                </a:solidFill>
                <a:latin typeface="Aptos"/>
              </a:defRPr>
            </a:pPr>
            <a:r>
              <a:t>Check important claims against CPCB and MoEFCC sources.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691640"/>
            <a:ext cx="2514600" cy="3246120"/>
          </a:xfrm>
          <a:prstGeom prst="roundRect">
            <a:avLst/>
          </a:prstGeom>
          <a:solidFill>
            <a:srgbClr val="EE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91472" y="1901952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DDAA5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2395728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100" b="1">
                <a:solidFill>
                  <a:srgbClr val="1C413A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3017520"/>
            <a:ext cx="21488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28322F"/>
                </a:solidFill>
                <a:latin typeface="Aptos"/>
              </a:defRPr>
            </a:pPr>
            <a:r>
              <a:t>Prepare report and awareness materials; record limitations.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5A6760"/>
                </a:solidFill>
                <a:latin typeface="Aptos"/>
              </a:defRPr>
            </a:pPr>
            <a:r>
              <a:t>Tools documented: ChatGPT • Google Gemini • GitHub for organizing project 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800" b="1">
                <a:solidFill>
                  <a:srgbClr val="1C413A"/>
                </a:solidFill>
                <a:latin typeface="Aptos"/>
              </a:defRPr>
            </a:pPr>
            <a:r>
              <a:t>3. Verification &amp; Responsible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64008"/>
          </a:xfrm>
          <a:prstGeom prst="rect">
            <a:avLst/>
          </a:prstGeom>
          <a:solidFill>
            <a:srgbClr val="DDA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5A6760"/>
                </a:solidFill>
                <a:latin typeface="Apto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497D5B"/>
                </a:solidFill>
                <a:latin typeface="Aptos"/>
              </a:defRPr>
            </a:pPr>
            <a:r>
              <a:t>How claims are checked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8322F"/>
                </a:solidFill>
                <a:latin typeface="Aptos"/>
              </a:defRPr>
            </a:pPr>
            <a:r>
              <a:t>Extract factual claims from AI-generated answers</a:t>
            </a:r>
          </a:p>
          <a:p>
            <a:pPr>
              <a:spcAft>
                <a:spcPts val="800"/>
              </a:spcAft>
              <a:defRPr sz="1700">
                <a:solidFill>
                  <a:srgbClr val="28322F"/>
                </a:solidFill>
                <a:latin typeface="Aptos"/>
              </a:defRPr>
            </a:pPr>
            <a:r>
              <a:t>Compare them with official CPCB and MoEFCC information</a:t>
            </a:r>
          </a:p>
          <a:p>
            <a:pPr>
              <a:spcAft>
                <a:spcPts val="800"/>
              </a:spcAft>
              <a:defRPr sz="1700">
                <a:solidFill>
                  <a:srgbClr val="28322F"/>
                </a:solidFill>
                <a:latin typeface="Aptos"/>
              </a:defRPr>
            </a:pPr>
            <a:r>
              <a:t>Record the source and mark claims as supported, uncertain or needing correction</a:t>
            </a:r>
          </a:p>
          <a:p>
            <a:pPr>
              <a:spcAft>
                <a:spcPts val="800"/>
              </a:spcAft>
              <a:defRPr sz="1700">
                <a:solidFill>
                  <a:srgbClr val="28322F"/>
                </a:solidFill>
                <a:latin typeface="Aptos"/>
              </a:defRPr>
            </a:pPr>
            <a:r>
              <a:t>Avoid presenting unsupported statistics or legal claims as facts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120640" cy="3977639"/>
          </a:xfrm>
          <a:prstGeom prst="roundRect">
            <a:avLst/>
          </a:prstGeom>
          <a:solidFill>
            <a:srgbClr val="F8E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875B23"/>
                </a:solidFill>
                <a:latin typeface="Aptos"/>
              </a:defRPr>
            </a:pPr>
            <a:r>
              <a:t>RESPONSIBLE AI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297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8322F"/>
                </a:solidFill>
                <a:latin typeface="Aptos"/>
              </a:defRPr>
            </a:pPr>
            <a:r>
              <a:t>AI can be incomplete or outdated</a:t>
            </a:r>
          </a:p>
          <a:p>
            <a:pPr>
              <a:spcAft>
                <a:spcPts val="900"/>
              </a:spcAft>
              <a:defRPr sz="1700">
                <a:solidFill>
                  <a:srgbClr val="28322F"/>
                </a:solidFill>
                <a:latin typeface="Aptos"/>
              </a:defRPr>
            </a:pPr>
            <a:r>
              <a:t>References must be opened and checked</a:t>
            </a:r>
          </a:p>
          <a:p>
            <a:pPr>
              <a:spcAft>
                <a:spcPts val="900"/>
              </a:spcAft>
              <a:defRPr sz="1700">
                <a:solidFill>
                  <a:srgbClr val="28322F"/>
                </a:solidFill>
                <a:latin typeface="Aptos"/>
              </a:defRPr>
            </a:pPr>
            <a:r>
              <a:t>Human review remains necessary</a:t>
            </a:r>
          </a:p>
          <a:p>
            <a:pPr>
              <a:spcAft>
                <a:spcPts val="900"/>
              </a:spcAft>
              <a:defRPr sz="1700">
                <a:solidFill>
                  <a:srgbClr val="28322F"/>
                </a:solidFill>
                <a:latin typeface="Aptos"/>
              </a:defRPr>
            </a:pPr>
            <a:r>
              <a:t>Do not claim verification unless it was actually done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800" b="1">
                <a:solidFill>
                  <a:srgbClr val="1C413A"/>
                </a:solidFill>
                <a:latin typeface="Aptos"/>
              </a:defRPr>
            </a:pPr>
            <a:r>
              <a:t>4. Awareness Materials &amp; Key Message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64008"/>
          </a:xfrm>
          <a:prstGeom prst="rect">
            <a:avLst/>
          </a:prstGeom>
          <a:solidFill>
            <a:srgbClr val="DDA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5A6760"/>
                </a:solidFill>
                <a:latin typeface="Aptos"/>
              </a:defRPr>
            </a:pPr>
            <a:r>
              <a:t>5/6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74920" cy="4434840"/>
          </a:xfrm>
          <a:prstGeom prst="roundRect">
            <a:avLst/>
          </a:prstGeom>
          <a:solidFill>
            <a:srgbClr val="E2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400" b="1">
                <a:solidFill>
                  <a:srgbClr val="1C413A"/>
                </a:solidFill>
                <a:latin typeface="Aptos"/>
              </a:defRPr>
            </a:pPr>
            <a:r>
              <a:t>The 5 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322F"/>
                </a:solidFill>
                <a:latin typeface="Aptos"/>
              </a:defRPr>
            </a:pPr>
            <a:r>
              <a:t>Reduce unnecessary electronics</a:t>
            </a:r>
          </a:p>
          <a:p>
            <a:pPr>
              <a:spcAft>
                <a:spcPts val="700"/>
              </a:spcAft>
              <a:defRPr sz="1700">
                <a:solidFill>
                  <a:srgbClr val="28322F"/>
                </a:solidFill>
                <a:latin typeface="Aptos"/>
              </a:defRPr>
            </a:pPr>
            <a:r>
              <a:t>Repair devices when practical</a:t>
            </a:r>
          </a:p>
          <a:p>
            <a:pPr>
              <a:spcAft>
                <a:spcPts val="700"/>
              </a:spcAft>
              <a:defRPr sz="1700">
                <a:solidFill>
                  <a:srgbClr val="28322F"/>
                </a:solidFill>
                <a:latin typeface="Aptos"/>
              </a:defRPr>
            </a:pPr>
            <a:r>
              <a:t>Reuse or donate working devices safely</a:t>
            </a:r>
          </a:p>
          <a:p>
            <a:pPr>
              <a:spcAft>
                <a:spcPts val="700"/>
              </a:spcAft>
              <a:defRPr sz="1700">
                <a:solidFill>
                  <a:srgbClr val="28322F"/>
                </a:solidFill>
                <a:latin typeface="Aptos"/>
              </a:defRPr>
            </a:pPr>
            <a:r>
              <a:t>Recycle through authorized channels</a:t>
            </a:r>
          </a:p>
          <a:p>
            <a:pPr>
              <a:spcAft>
                <a:spcPts val="700"/>
              </a:spcAft>
              <a:defRPr sz="1700">
                <a:solidFill>
                  <a:srgbClr val="28322F"/>
                </a:solidFill>
                <a:latin typeface="Aptos"/>
              </a:defRPr>
            </a:pPr>
            <a:r>
              <a:t>Research local rules and collection options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497D5B"/>
                </a:solidFill>
                <a:latin typeface="Aptos"/>
              </a:defRPr>
            </a:pPr>
            <a:r>
              <a:t>Materials in the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322F"/>
                </a:solidFill>
                <a:latin typeface="Aptos"/>
              </a:defRPr>
            </a:pPr>
            <a:r>
              <a:t>Research report and verification documents</a:t>
            </a:r>
          </a:p>
          <a:p>
            <a:pPr>
              <a:spcAft>
                <a:spcPts val="1000"/>
              </a:spcAft>
              <a:defRPr sz="1800">
                <a:solidFill>
                  <a:srgbClr val="28322F"/>
                </a:solidFill>
                <a:latin typeface="Aptos"/>
              </a:defRPr>
            </a:pPr>
            <a:r>
              <a:t>Awareness article and social post drafts</a:t>
            </a:r>
          </a:p>
          <a:p>
            <a:pPr>
              <a:spcAft>
                <a:spcPts val="1000"/>
              </a:spcAft>
              <a:defRPr sz="1800">
                <a:solidFill>
                  <a:srgbClr val="28322F"/>
                </a:solidFill>
                <a:latin typeface="Aptos"/>
              </a:defRPr>
            </a:pPr>
            <a:r>
              <a:t>Poster and presentation outline</a:t>
            </a:r>
          </a:p>
          <a:p>
            <a:pPr>
              <a:spcAft>
                <a:spcPts val="1000"/>
              </a:spcAft>
              <a:defRPr sz="1800">
                <a:solidFill>
                  <a:srgbClr val="28322F"/>
                </a:solidFill>
                <a:latin typeface="Aptos"/>
              </a:defRPr>
            </a:pPr>
            <a:r>
              <a:t>Prompt library, tool comparison and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534924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5A6760"/>
                </a:solidFill>
                <a:latin typeface="Aptos"/>
              </a:defRPr>
            </a:pPr>
            <a:r>
              <a:t>Use official sources for current guidance.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41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5. Conclusion &amp;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143000" cy="64008"/>
          </a:xfrm>
          <a:prstGeom prst="rect">
            <a:avLst/>
          </a:prstGeom>
          <a:solidFill>
            <a:srgbClr val="DDA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49377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300" b="1">
                <a:solidFill>
                  <a:srgbClr val="E2F0E2"/>
                </a:solidFill>
                <a:latin typeface="Aptos"/>
              </a:defRPr>
            </a:pPr>
            <a:r>
              <a:t>AI can speed up research and help create awareness materials—but its output must be checked against reliable 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DDAA55"/>
                </a:solidFill>
                <a:latin typeface="Aptos"/>
              </a:defRPr>
            </a:pPr>
            <a:r>
              <a:t>LIVE DEMO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24028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Open the GitHub repository</a:t>
            </a:r>
          </a:p>
          <a:p>
            <a:pPr>
              <a:spcAft>
                <a:spcPts val="9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Show the research report and verification table</a:t>
            </a:r>
          </a:p>
          <a:p>
            <a:pPr>
              <a:spcAft>
                <a:spcPts val="9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Show the awareness poster and article</a:t>
            </a:r>
          </a:p>
          <a:p>
            <a:pPr>
              <a:spcAft>
                <a:spcPts val="9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Explain one example of checking an AI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978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89788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300" b="1">
                <a:solidFill>
                  <a:srgbClr val="E2F0E2"/>
                </a:solidFill>
                <a:latin typeface="Aptos"/>
              </a:defRPr>
            </a:pPr>
            <a:r>
              <a:t>Project No. 23 • ECE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